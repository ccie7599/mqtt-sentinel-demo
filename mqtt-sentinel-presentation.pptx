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A1A1A"/>
                </a:solidFill>
              </a:defRPr>
            </a:pPr>
            <a:r>
              <a:t>MQTT Sentinel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555555"/>
                </a:solidFill>
              </a:defRPr>
            </a:pPr>
            <a:r>
              <a:t>Distributed MQTT Security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834640"/>
            <a:ext cx="2743200" cy="254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Current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WMS MQTT deployment — current state</a:t>
            </a:r>
          </a:p>
        </p:txBody>
      </p:sp>
      <p:pic>
        <p:nvPicPr>
          <p:cNvPr id="4" name="Picture 3" descr="custo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11247120" cy="420353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Requirements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22960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03D7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Protocol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MQTT 3.1.1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Server-to-device alert notification (one-way, subscribe-only clients)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Topic Structure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Unique device ID per topic (e.g. wyse3299349539363084573)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Message Pattern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Per-topic delivery only, no broadcast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Message Rate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~600 msgs/sec aggregate (spike)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Payload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"ALERT" notification (~5 bytes current, up to 100 bytes future)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QoS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Level 1 (at least once delivery)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Retention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3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Concurrency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1.5 million concurrent connections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500K additional connections per 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200"/>
              </a:spcAft>
              <a:defRPr sz="1700">
                <a:solidFill>
                  <a:srgbClr val="1A1A1A"/>
                </a:solidFill>
              </a:defRPr>
            </a:pPr>
            <a:r>
              <a:t>1.  MQTT is a binary protocol — existing WAF infrastructure (Akamai, F5) cannot inspect it.</a:t>
            </a:r>
          </a:p>
          <a:p>
            <a:pPr>
              <a:spcAft>
                <a:spcPts val="3200"/>
              </a:spcAft>
              <a:defRPr sz="1700">
                <a:solidFill>
                  <a:srgbClr val="1A1A1A"/>
                </a:solidFill>
              </a:defRPr>
            </a:pPr>
            <a:r>
              <a:t>2.  Origin ingresses are directly exposed to 1.5M+ device connections with no application-layer filtering.</a:t>
            </a:r>
          </a:p>
          <a:p>
            <a:pPr>
              <a:spcAft>
                <a:spcPts val="3200"/>
              </a:spcAft>
              <a:defRPr sz="1700">
                <a:solidFill>
                  <a:srgbClr val="1A1A1A"/>
                </a:solidFill>
              </a:defRPr>
            </a:pPr>
            <a:r>
              <a:t>3.  No distributed DDoS protection at the MQTT protocol level — rate limiting, auth brute-force prevention, and packet validation do not exist at the edge.</a:t>
            </a:r>
          </a:p>
          <a:p>
            <a:pPr>
              <a:spcAft>
                <a:spcPts val="3200"/>
              </a:spcAft>
              <a:defRPr sz="1700">
                <a:solidFill>
                  <a:srgbClr val="1A1A1A"/>
                </a:solidFill>
              </a:defRPr>
            </a:pPr>
            <a:r>
              <a:t>4.  No visibility into MQTT-specific security events — connection anomalies, malicious payloads, and auth failures are not surfaced in existing monitoring.</a:t>
            </a:r>
          </a:p>
          <a:p>
            <a:pPr>
              <a:spcAft>
                <a:spcPts val="3200"/>
              </a:spcAft>
              <a:defRPr sz="1700">
                <a:solidFill>
                  <a:srgbClr val="1A1A1A"/>
                </a:solidFill>
              </a:defRPr>
            </a:pPr>
            <a:r>
              <a:t>5.  Scaling to 1.5M+ connections (growing 500K/year) requires a purpose-built proxy tier, not just broker scaling.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MQTT Sentinel — layered security architecture</a:t>
            </a:r>
          </a:p>
        </p:txBody>
      </p:sp>
      <p:pic>
        <p:nvPicPr>
          <p:cNvPr id="4" name="Picture 3" descr="mqtt-sentinel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11247120" cy="61155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Platform-Level Network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Infrastructure protection before traffic reaches MQTT Sentinel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9728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77240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Protection Layer</a:t>
                      </a:r>
                    </a:p>
                  </a:txBody>
                  <a:tcPr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Detail</a:t>
                      </a:r>
                    </a:p>
                  </a:txBody>
                  <a:tcPr>
                    <a:solidFill>
                      <a:srgbClr val="003D7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Linode Region-Level DDoS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Always-on DDoS mitigation at every Linode region edge. Drops volumetric attacks (UDP/ICMP floods, amplification), protocol attacks (SYN floods), and network anomalies automatically.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Akamai Prolexic Routed On-Demand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Network-layer scrubbing for sustained large-scale attacks. Traffic rerouted to Prolexic scrubbing centers, cleaned, and returned via GRE tunnels. Multi-terabit capacity.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Coverage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All platform IP space used by MQTT Sentinel proxy and broker instances is protected.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Network-layer (L3/L4) volumetric attacks are absorbed at the infrastructure edge before any MQTT Sentinel component processes traffic.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Proxy Layer — Distributed Edge Security</a:t>
            </a:r>
          </a:p>
        </p:txBody>
      </p:sp>
      <p:pic>
        <p:nvPicPr>
          <p:cNvPr id="3" name="Picture 2" descr="proxy-layer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48370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Proxy Layer — Capabilities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9728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68680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Detail</a:t>
                      </a:r>
                    </a:p>
                  </a:txBody>
                  <a:tcPr>
                    <a:solidFill>
                      <a:srgbClr val="003D7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TLS Termination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TLS 1.2/1.3 offload at the edge, plain MQTT internally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Rate Limiting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6 tiers: global (10K/s), per-IP (100/s), CONNECT (10/s), PUBLISH (100/s), SUBSCRIBE (20/s), per-client (50/s)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Authentication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Auth callout to customer PerconaDB. Fail-closed. Results cached 60s.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MQTT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MQTT 3.1.1 packet parsing — protocol level, packet type, size enforcement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DDoS Protection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Distributed multi-region fleet absorbs volumetric attacks. Horizontal scaling by adding nodes.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Observability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Prometheus metrics: connections, rate limit events, auth latency, packet counts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Core Broker — Security Inspection</a:t>
            </a:r>
          </a:p>
        </p:txBody>
      </p:sp>
      <p:pic>
        <p:nvPicPr>
          <p:cNvPr id="3" name="Picture 2" descr="security-insp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76375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Bridge Service — Origin Protection</a:t>
            </a:r>
          </a:p>
        </p:txBody>
      </p:sp>
      <p:pic>
        <p:nvPicPr>
          <p:cNvPr id="3" name="Picture 2" descr="bridge-and-ori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79541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Origin Protection —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0"/>
              </a:spcAft>
              <a:defRPr sz="1700">
                <a:solidFill>
                  <a:srgbClr val="1A1A1A"/>
                </a:solidFill>
              </a:defRPr>
            </a:pPr>
            <a:r>
              <a:t>1.  Bridge Service subscribes to messages on the core broker via MQTT.</a:t>
            </a:r>
          </a:p>
          <a:p>
            <a:pPr>
              <a:spcAft>
                <a:spcPts val="3000"/>
              </a:spcAft>
              <a:defRPr sz="1700">
                <a:solidFill>
                  <a:srgbClr val="1A1A1A"/>
                </a:solidFill>
              </a:defRPr>
            </a:pPr>
            <a:r>
              <a:t>2.  Messages are converted from MQTT to WebSocket (WSS) frames.</a:t>
            </a:r>
          </a:p>
          <a:p>
            <a:pPr>
              <a:spcAft>
                <a:spcPts val="3000"/>
              </a:spcAft>
              <a:defRPr sz="1700">
                <a:solidFill>
                  <a:srgbClr val="1A1A1A"/>
                </a:solidFill>
              </a:defRPr>
            </a:pPr>
            <a:r>
              <a:t>3.  WebSocket traffic passes through the customer's existing WAF (Akamai / F5) — the WAF can now inspect what was previously opaque binary MQTT.</a:t>
            </a:r>
          </a:p>
          <a:p>
            <a:pPr>
              <a:spcAft>
                <a:spcPts val="3000"/>
              </a:spcAft>
              <a:defRPr sz="1700">
                <a:solidFill>
                  <a:srgbClr val="1A1A1A"/>
                </a:solidFill>
              </a:defRPr>
            </a:pPr>
            <a:r>
              <a:t>4.  Clean traffic arrives at customer origin via Envoy, then to Mosquitto.</a:t>
            </a:r>
          </a:p>
          <a:p>
            <a:pPr>
              <a:spcAft>
                <a:spcPts val="3000"/>
              </a:spcAft>
              <a:defRPr sz="1700">
                <a:solidFill>
                  <a:srgbClr val="1A1A1A"/>
                </a:solidFill>
              </a:defRPr>
            </a:pPr>
            <a:r>
              <a:t>5.  Origin never receives raw MQTT from the internet. All inbound connections terminate at the distributed proxy layer.</a:t>
            </a:r>
          </a:p>
          <a:p>
            <a:pPr>
              <a:spcAft>
                <a:spcPts val="3000"/>
              </a:spcAft>
              <a:defRPr sz="1700">
                <a:solidFill>
                  <a:srgbClr val="1A1A1A"/>
                </a:solidFill>
              </a:defRPr>
            </a:pPr>
          </a:p>
          <a:p>
            <a:pPr>
              <a:spcAft>
                <a:spcPts val="3000"/>
              </a:spcAft>
              <a:defRPr sz="1700">
                <a:solidFill>
                  <a:srgbClr val="1A1A1A"/>
                </a:solidFill>
              </a:defRPr>
            </a:pPr>
            <a:r>
              <a:t>Result: existing WAF investment is leveraged for MQTT traffic without protocol changes on the origin.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Scale and Performance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9728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31520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003D7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Concurrent Connections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1,500,000+ (scaling 500K/year)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Message Throughput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600+ msgs/sec aggregate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Auth Latency (P99)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&lt; 10ms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Message Delivery (P99)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Regional: &lt; 50ms, Cross-region: &lt; 200ms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Availability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99.99%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Message Retention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72 hours (3 days)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QoS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Level 1 (at least once)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Protocol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MQTT 3.1.1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A1A1A"/>
                </a:solidFill>
              </a:defRPr>
            </a:pPr>
            <a:r>
              <a:t>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2834640"/>
            <a:ext cx="2743200" cy="254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200"/>
              </a:spcAft>
              <a:defRPr sz="1800">
                <a:solidFill>
                  <a:srgbClr val="1A1A1A"/>
                </a:solidFill>
              </a:defRPr>
            </a:pPr>
            <a:r>
              <a:t>1.  Platform health and connection metrics</a:t>
            </a:r>
          </a:p>
          <a:p>
            <a:pPr>
              <a:spcAft>
                <a:spcPts val="3200"/>
              </a:spcAft>
              <a:defRPr sz="1800">
                <a:solidFill>
                  <a:srgbClr val="1A1A1A"/>
                </a:solidFill>
              </a:defRPr>
            </a:pPr>
            <a:r>
              <a:t>2.  Device authentication (valid + invalid credentials)</a:t>
            </a:r>
          </a:p>
          <a:p>
            <a:pPr>
              <a:spcAft>
                <a:spcPts val="3200"/>
              </a:spcAft>
              <a:defRPr sz="1800">
                <a:solidFill>
                  <a:srgbClr val="1A1A1A"/>
                </a:solidFill>
              </a:defRPr>
            </a:pPr>
            <a:r>
              <a:t>3.  Rate limiting under burst traffic</a:t>
            </a:r>
          </a:p>
          <a:p>
            <a:pPr>
              <a:spcAft>
                <a:spcPts val="3200"/>
              </a:spcAft>
              <a:defRPr sz="1800">
                <a:solidFill>
                  <a:srgbClr val="1A1A1A"/>
                </a:solidFill>
              </a:defRPr>
            </a:pPr>
            <a:r>
              <a:t>4.  Security inspection — malicious payload detection</a:t>
            </a:r>
          </a:p>
          <a:p>
            <a:pPr>
              <a:spcAft>
                <a:spcPts val="3200"/>
              </a:spcAft>
              <a:defRPr sz="1800">
                <a:solidFill>
                  <a:srgbClr val="1A1A1A"/>
                </a:solidFill>
              </a:defRPr>
            </a:pPr>
            <a:r>
              <a:t>5.  Grafana dashboard — real-time security events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